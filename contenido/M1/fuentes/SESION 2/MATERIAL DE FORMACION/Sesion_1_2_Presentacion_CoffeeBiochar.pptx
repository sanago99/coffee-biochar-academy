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056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85800" y="1371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PROGRAM  ·  PLAN DE FORMACIÓN EXTENSIONISTAS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Biochar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 ·  Sesión 1.2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Disciplina Profesional</a:t>
            </a:r>
            <a:endParaRPr lang="en-US" sz="3600" dirty="0"/>
          </a:p>
          <a:p>
            <a:pPr marL="0" indent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Seguimiento Estructurado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85800" y="2578608"/>
            <a:ext cx="5029200" cy="36576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85800" y="2670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gestionar el batch, estructurar la visita diaria y garantizar que cada horno cierre su meta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0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del Facilitador  ·  1 hora sincrónica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Biodiversal SAS BIC × Cirkular Agro  ·  2025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LA SESIÓN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3E4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vamos a lograr hoy?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finalizar la sesión, el extensionista podrá: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4864" cy="493776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el ritmo de producción diario necesario para cerrar el batch.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54864" cy="493776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94360" y="213969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139696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la visita diaria con estructura de 5 momentos — incluyendo la carga de registros.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54864" cy="493776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94360" y="272491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724912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el estado acumulado de sus 3 hornos y detectar riesgos antes de que afecten el batch.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57200" y="3310128"/>
            <a:ext cx="54864" cy="493776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94360" y="331012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310128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retroalimentación con datos concretos sin generar confrontación.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95344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57200" y="3895344"/>
            <a:ext cx="54864" cy="493776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94360" y="3895344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895344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alertas al líder de clúster en el momento correcto, con la información correcta.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0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batch tiene 15 días. Cada día sin quema registrada es producción que se recupera con dificultad — o no se recupera.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· 60 MINUTOS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 la sesión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1887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batch como ventana fija — cálculo detonador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1887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475488"/>
          </a:xfrm>
          <a:prstGeom prst="rect">
            <a:avLst/>
          </a:prstGeom>
          <a:solidFill>
            <a:srgbClr val="2E3F4D"/>
          </a:solidFill>
          <a:ln w="12700">
            <a:solidFill>
              <a:srgbClr val="2E3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48640" y="17373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17373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17373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batch: números, ritmo y rotación de hornos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7373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475488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48640" y="2286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22860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22860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visita diaria: 5 momentos obligatorios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2860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8229600" cy="475488"/>
          </a:xfrm>
          <a:prstGeom prst="rect">
            <a:avLst/>
          </a:prstGeom>
          <a:solidFill>
            <a:srgbClr val="2E3F4D"/>
          </a:solidFill>
          <a:ln w="12700">
            <a:solidFill>
              <a:srgbClr val="2E3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48640" y="28346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28346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28346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del batch y alertas tempranas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8346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33832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94560" y="33832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Retroalimentación con datos y ética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33832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8229600" cy="475488"/>
          </a:xfrm>
          <a:prstGeom prst="rect">
            <a:avLst/>
          </a:prstGeom>
          <a:solidFill>
            <a:srgbClr val="2E3F4D"/>
          </a:solidFill>
          <a:ln w="12700">
            <a:solidFill>
              <a:srgbClr val="2E3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48640" y="39319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39319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Role-play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94560" y="39319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8 del batch — La visita de Doña Marleny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9319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548640" y="44805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" y="44805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94560" y="44805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compromiso por extensionista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44805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8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8A4A2C"/>
          </a:solidFill>
          <a:ln w="12700">
            <a:solidFill>
              <a:srgbClr val="8A4A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Apertura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cálculo detonador  ·  5 minutos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 ·  Sesión 1.2  ·  Coffee Biochar Program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APERTURA · EL CÁLCULO DETONADOR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3E4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comenzar...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AL CHAT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«Si hoy fuera el día 1 de un batch, ¿cuántos litros necesitarían producir por horno cada día hábil para llegar a los 18.500 litros al día 15?»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0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esperada: ~1.233 litros/día/horno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4864" cy="1005840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40080" y="2761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0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ENCUADRE DE LA SESIÓN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«Hoy construimos el sistema que garantiza que esos 1.233 litros ocurran — todos los días hábiles, en cada horno, durante los 15 días del batch.»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Bloque 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batch como unidad de trabajo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· ritmo diario · rotación de hornos  ·  10 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— EL BATCH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3E4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números que el extensionista debe saber de memoria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137160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" cy="137160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hábiles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037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fija del batch — no negociable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06040" cy="137160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54864" cy="137160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337560" y="1280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18.500 L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37560" y="1901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por horno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2037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batch · ~1.233 L/día de ritmo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06040" cy="137160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54864" cy="137160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172200" y="1280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172200" y="1901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hornos a cargo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2037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quema mínima por horno por día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3977640" cy="137160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94360" y="28346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37.000 L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594360" y="34564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productor tiene 2 hornos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75818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doble · mismo extensionista a cargo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743200"/>
            <a:ext cx="3977640" cy="137160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572000" y="2743200"/>
            <a:ext cx="54864" cy="137160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709160" y="28346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acumulado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4709160" y="34564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recuperable al día siguiente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9160" y="375818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día bajo no es fatal — el batch incompleto sí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— EJERCICIO EN VIVO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¿Estás en riesgo?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960120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4864" cy="96012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1252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· DÍA 8 DEL BATCH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52704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horno a tu cargo lleva 5.500 litros producidos. Quedan 7 días hábiles del batch.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¿Está en línea con la meta o en riesgo? ¿Cuántos litros necesita por día en lo que queda?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840480" cy="150876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5.500 L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4864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acumulados al día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58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faltan 13.000 L en 7 días = ~1.857 L/día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2880360"/>
            <a:ext cx="4251960" cy="1508760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434840" y="2880360"/>
            <a:ext cx="54864" cy="1508760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617720" y="2944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moderado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336499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ritmo normal es ~1.233 L/día.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50% más de lo normal en los 7 días restantes.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Alerta al líder de clúster si no puede acelerar.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8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8A4A2C"/>
          </a:solidFill>
          <a:ln w="12700">
            <a:solidFill>
              <a:srgbClr val="8A4A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Bloque 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visita diaria — 5 momentos obligatorios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visita no es supervisión — es el sistema de producción  ·  13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— LA VISITA DIARIA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3E4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momentos — ninguno opcional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" cy="65836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94360" y="118872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225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del estado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5179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¿Quemó ayer? ¿Cuántos litros? ¿Hay biomasa? ¿El horno está operativo?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0" y="11887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54864" cy="65836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94360" y="192024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19568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a quema activa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2494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productor está quemando: acompaña, no interrumpas.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0" y="1920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hay quema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046720" cy="658368"/>
          </a:xfrm>
          <a:prstGeom prst="rect">
            <a:avLst/>
          </a:prstGeom>
          <a:solidFill>
            <a:srgbClr val="F5E8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54864" cy="658368"/>
          </a:xfrm>
          <a:prstGeom prst="rect">
            <a:avLst/>
          </a:prstGeom>
          <a:solidFill>
            <a:srgbClr val="7B3F2A"/>
          </a:solidFill>
          <a:ln w="12700">
            <a:solidFill>
              <a:srgbClr val="7B3F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94360" y="265176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7B3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1560" y="26883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de registros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9809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a Planboo todas las quemas pendientes — incluyendo las del día anterior.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26517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B3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54864" cy="65836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94360" y="338328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1560" y="3419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del ritmo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7124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¿Va en línea con los 18.500 L? ¿Cuántos días quedan? Calcular con datos reales.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0" y="33832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046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54864" cy="65836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51560" y="4151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del día siguiente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4439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¿Va a quemar mañana? ¿A qué hora? ¿Tiene biomasa suficiente? Acuerdo explícito.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4114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min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— REGLA DE ORO DEL REGISTRO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Registrar, no recordar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3200400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4864" cy="3200400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REGISTRAR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 ideal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Inmediatamente después de cada quema, mientras el extensionista está en la finca.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87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62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día hábil siguiente, en la visita. Sin excepción.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838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productor quemó solo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581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extensionista carga los registros pendientes en esa misma visita.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4023360" cy="3200400"/>
          </a:xfrm>
          <a:prstGeom prst="rect">
            <a:avLst/>
          </a:prstGeom>
          <a:solidFill>
            <a:srgbClr val="4A2A1A"/>
          </a:solidFill>
          <a:ln w="12700">
            <a:solidFill>
              <a:srgbClr val="4A2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54864" cy="320040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84632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EL ERROR MÁS COSTOSO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«Lo registro en la noche»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21762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frase que más producción ha comprometido ante auditoría CSI.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34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registro tardío no es un registro incorrecto — pero es un dato en riesgo de inconsistencia de fecha si el productor no recuerda exactamente cuándo quemó.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Bloque 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del batch y alertas tempranas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4 datos de memoria · cuándo escalar al líder de clúster  ·  10 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— KPIs DEL BATCH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3E4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datos de memoria — por horno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0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mirar Planboo. Si no los sabe, tiene un problema de seguimiento.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069080" cy="132588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4864" cy="132588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94360" y="15361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Litros acumulados vs. ritmo necesario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¿Está en línea para llegar a 18.500 L al día 15, o en riesgo?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69080" cy="132588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4864" cy="132588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94360" y="29992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fecha de quema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840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días lleva sin quemar este horno?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463040"/>
            <a:ext cx="4069080" cy="132588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709160" y="1463040"/>
            <a:ext cx="54864" cy="132588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46320" y="15361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registros en Planboo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quemas no subidas? ¿Las fotos tienen GPS?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069080" cy="132588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54864" cy="132588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46320" y="29992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del día anterior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840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productor lo cumplió?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— POR QUÉ IMPORTA Y CUÁNDO ESCALAR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114300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FINANCIERA — NO OMITIR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969264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tasa de interés del financiamiento de Incofin Investment Management está vinculada al cumplimiento de KPIs. Cuando los KPIs se cumplen, la tasa baja — mayor ingreso para el productor. Cada batch incompleto es una consecuencia financiera real para las familias del clúster.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escalar al líder de clúster — ese mismo día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8229600" cy="429768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54864" cy="42976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1401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2359152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horno lleva 3+ días sin quema sin justificación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862072"/>
            <a:ext cx="8229600" cy="429768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457200" y="2862072"/>
            <a:ext cx="54864" cy="42976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1693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2862072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horno acumula &gt;20% de retraso vs. el ritmo necesario para cerrar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364992"/>
            <a:ext cx="8229600" cy="429768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4"/>
          <p:cNvSpPr/>
          <p:nvPr/>
        </p:nvSpPr>
        <p:spPr>
          <a:xfrm>
            <a:off x="457200" y="3364992"/>
            <a:ext cx="54864" cy="42976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1985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3364992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productor expresa intención de salir del proyecto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867912"/>
            <a:ext cx="8229600" cy="429768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7"/>
          <p:cNvSpPr/>
          <p:nvPr/>
        </p:nvSpPr>
        <p:spPr>
          <a:xfrm>
            <a:off x="457200" y="3867912"/>
            <a:ext cx="54864" cy="42976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92277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867912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Inconsistencias en datos de Planboo que el extensionista no puede explicar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370832"/>
            <a:ext cx="8229600" cy="429768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0"/>
          <p:cNvSpPr/>
          <p:nvPr/>
        </p:nvSpPr>
        <p:spPr>
          <a:xfrm>
            <a:off x="457200" y="4370832"/>
            <a:ext cx="54864" cy="42976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425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120" y="4370832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 técnica del horno que no puede resolver en campo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A8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8A4A2C"/>
          </a:solidFill>
          <a:ln w="12700">
            <a:solidFill>
              <a:srgbClr val="8A4A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Bloque 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Retroalimentación con datos y ética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Urgencia sin presión · Integridad del dato  ·  5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— RETROALIMENTACIÓN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3E4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decir → Sí decir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1051560"/>
          </a:xfrm>
          <a:prstGeom prst="rect">
            <a:avLst/>
          </a:prstGeom>
          <a:solidFill>
            <a:srgbClr val="F5E8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7B3F2A"/>
          </a:solidFill>
          <a:ln w="12700">
            <a:solidFill>
              <a:srgbClr val="7B3F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94360" y="1188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3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1887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«Usted va muy atrasado.»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36192"/>
            <a:ext cx="320040" cy="320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892040" y="1188720"/>
            <a:ext cx="3794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892040" y="1188720"/>
            <a:ext cx="54864" cy="1051560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029200" y="1188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0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40680" y="11887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«Llevamos 8 días y tenemos 7.200 L. Necesitamos ~1.600/día para cerrar. Es posible. ¿Qué necesita?»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377440"/>
            <a:ext cx="3931920" cy="1051560"/>
          </a:xfrm>
          <a:prstGeom prst="rect">
            <a:avLst/>
          </a:prstGeom>
          <a:solidFill>
            <a:srgbClr val="F5E8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457200" y="2377440"/>
            <a:ext cx="54864" cy="1051560"/>
          </a:xfrm>
          <a:prstGeom prst="rect">
            <a:avLst/>
          </a:prstGeom>
          <a:solidFill>
            <a:srgbClr val="7B3F2A"/>
          </a:solidFill>
          <a:ln w="12700">
            <a:solidFill>
              <a:srgbClr val="7B3F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594360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3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05840" y="23774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«Ya le dije que registre cada quema.»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724912"/>
            <a:ext cx="320040" cy="3200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892040" y="2377440"/>
            <a:ext cx="3794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4892040" y="2377440"/>
            <a:ext cx="54864" cy="1051560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8"/>
          <p:cNvSpPr/>
          <p:nvPr/>
        </p:nvSpPr>
        <p:spPr>
          <a:xfrm>
            <a:off x="5029200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0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544068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«Hay 2 quemas sin subir. Las subimos ahora juntos. ¿Tiene los litros de cada una?»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3566160"/>
            <a:ext cx="3931920" cy="1051560"/>
          </a:xfrm>
          <a:prstGeom prst="rect">
            <a:avLst/>
          </a:prstGeom>
          <a:solidFill>
            <a:srgbClr val="F5E8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1"/>
          <p:cNvSpPr/>
          <p:nvPr/>
        </p:nvSpPr>
        <p:spPr>
          <a:xfrm>
            <a:off x="457200" y="3566160"/>
            <a:ext cx="54864" cy="1051560"/>
          </a:xfrm>
          <a:prstGeom prst="rect">
            <a:avLst/>
          </a:prstGeom>
          <a:solidFill>
            <a:srgbClr val="7B3F2A"/>
          </a:solidFill>
          <a:ln w="12700">
            <a:solidFill>
              <a:srgbClr val="7B3F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594360" y="3566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3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005840" y="35661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«Si no quema mañana no cerramos el batch.»</a:t>
            </a:r>
            <a:endParaRPr lang="en-US" sz="12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913632"/>
            <a:ext cx="320040" cy="32004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892040" y="3566160"/>
            <a:ext cx="3794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5"/>
          <p:cNvSpPr/>
          <p:nvPr/>
        </p:nvSpPr>
        <p:spPr>
          <a:xfrm>
            <a:off x="4892040" y="3566160"/>
            <a:ext cx="54864" cy="1051560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6"/>
          <p:cNvSpPr/>
          <p:nvPr/>
        </p:nvSpPr>
        <p:spPr>
          <a:xfrm>
            <a:off x="5029200" y="3566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08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5440680" y="3566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«Para cerrar bien necesitamos quema mañana. ¿A qué hora? ¿Tiene biomasa lista?»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— ÉTICA E INTEGRIDAD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principios — no negociables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987552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4864" cy="987552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5389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2893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70432" y="165506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del productor — producción, ingresos, situación de finca — no se comparten con otros productores ni con terceros externos al proyecto.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331720"/>
            <a:ext cx="8229600" cy="987552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57200" y="2331720"/>
            <a:ext cx="54864" cy="987552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5117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70432" y="238658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Honestidad en el reporte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70432" y="275234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lo que pasó, no lo que debió pasar. Un dato estimado sin medición es inválido ante auditoría CSI — aunque esté cerca del real.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429000"/>
            <a:ext cx="8229600" cy="987552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3"/>
          <p:cNvSpPr/>
          <p:nvPr/>
        </p:nvSpPr>
        <p:spPr>
          <a:xfrm>
            <a:off x="457200" y="3429000"/>
            <a:ext cx="54864" cy="987552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4845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70432" y="34838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 de interés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70432" y="384962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familiar o económica con un productor que afecte la objetividad → declarar al líder de clúster. No resolverlo solo.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integridad del dato es la integridad del crédito de carbono — y el crédito es el ingreso del productor.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Role-play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8 del batch — La visita de Doña Marleny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rooms  ·  11 min de role-play  ·  2 min de plenaria  ·  14 min total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ROLE-PLAY — ESCENARIO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3E4D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Día 8 del batch  ·  Doña Marleny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141732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" cy="141732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Doña Marleny tiene 1 horno activo. Su acumulado en Planboo: 6.800 litros al día 8. Quedan 7 días hábiles — necesita ~1.671 L/día para cerrar. Tiene 2 quemas sin registrar del día anterior (quemó sola). El vecino le dijo que «el biochar es un cuento» — no ha visto ningún ingreso.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extensionista debe lograr en 11 minutos: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90672"/>
            <a:ext cx="292608" cy="310896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09067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estado: ¿quemó ayer? ¿cuántos litros? ¿tiene biomasa para hoy?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292608" cy="310896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47472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las 2 quemas pendientes en Planboo con los datos que Doña Marleny proporcione.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858768"/>
            <a:ext cx="292608" cy="310896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385876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85876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 el diagnóstico de ritmo en voz alta con ella: 6.800 L en 8 días, ~1.671 L/día en lo que queda.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242816"/>
            <a:ext cx="292608" cy="310896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57200" y="424281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242816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Abordar la duda del vecino si surge — sin tecnicismos.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626864"/>
            <a:ext cx="292608" cy="310896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57200" y="462686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626864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con compromiso: ¿va a quemar hoy o mañana? ¿A qué hora? ¿Tiene biomasa?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ROLE-PLAY — INSTRUCCIONES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 · 14 minutos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011680" cy="347472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6217920" cy="347472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1430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90472"/>
            <a:ext cx="2011680" cy="381000"/>
          </a:xfrm>
          <a:prstGeom prst="rect">
            <a:avLst/>
          </a:prstGeom>
          <a:solidFill>
            <a:srgbClr val="F5F0E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468880" y="1490472"/>
            <a:ext cx="6217920" cy="381000"/>
          </a:xfrm>
          <a:prstGeom prst="rect">
            <a:avLst/>
          </a:prstGeom>
          <a:solidFill>
            <a:srgbClr val="F5F0E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48640" y="1490472"/>
            <a:ext cx="1874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00:43 – 00:44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0" y="1490472"/>
            <a:ext cx="6080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Facilitador lee el escenario. Asigna roles: extensionista / Doña Marleny.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871472"/>
            <a:ext cx="201168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468880" y="1871472"/>
            <a:ext cx="621792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48640" y="1871472"/>
            <a:ext cx="1874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00:44 – 00:55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60320" y="1871472"/>
            <a:ext cx="6080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Parejas en breakout rooms: role-play de 11 min.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252472"/>
            <a:ext cx="2011680" cy="381000"/>
          </a:xfrm>
          <a:prstGeom prst="rect">
            <a:avLst/>
          </a:prstGeom>
          <a:solidFill>
            <a:srgbClr val="F5F0E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468880" y="2252472"/>
            <a:ext cx="6217920" cy="381000"/>
          </a:xfrm>
          <a:prstGeom prst="rect">
            <a:avLst/>
          </a:prstGeom>
          <a:solidFill>
            <a:srgbClr val="F5F0E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48640" y="2252472"/>
            <a:ext cx="1874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00:55 – 00:57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60320" y="2252472"/>
            <a:ext cx="6080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Regreso a plenaria: una observación por pareja en el chat.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 para quien juega a Doña Marleny — enviar por chat privado: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182112"/>
            <a:ext cx="8229600" cy="1572768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57200" y="3182112"/>
            <a:ext cx="54864" cy="1572768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Estás ocupada — no molesta. Si el extensionista abre bien la conversación, te relajas.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493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 te preguntan por las quemas de ayer: sí quemaste, ~1.800 litros entre las dos, pero no las subiste.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78561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 mencionan los números del batch (6.800 L, 7 días): eso sí te preocupa — pregunta si es posible llegar.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0782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vecino: si el extensionista no lo menciona, no lo traigas. Si lo menciona, di que sí te generó duda.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370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Acepta el compromiso solo si te parece realista. Si no puedes cumplirlo, dilo.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— 3 MINUTOS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compromiso por extensionista — en el chat, ahora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143000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4864" cy="1143000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21792" y="1234440"/>
            <a:ext cx="800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«Escríbanme en el chat: el horno de su clúster que más les preocupa en términos de ritmo de producción esta semana, y cuál de los 5 momentos de la visita van a aplicar específicamente mañana.»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sesión: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solidFill>
            <a:srgbClr val="374857"/>
          </a:solidFill>
          <a:ln w="12700">
            <a:solidFill>
              <a:srgbClr val="3748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54864" cy="1097280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1792" y="2880360"/>
            <a:ext cx="8001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4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«Esos compromisos quedan registrados. En 30 días el líder de clúster los acompaña en una visita real. No como examen — como verificación de que esto quedó.»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94360" y="4096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práctica en campo · 30 días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370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líder de clúster acompaña una visita técnica real y evalúa con rúbrica estandarizada. Nota mínima: 70%.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Biochar  ·  Módulo 1 · Sesión 1.2  ·  Disciplina Profesional y Seguimiento Estructurado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E4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4D58"/>
          </a:solidFill>
          <a:ln w="12700">
            <a:solidFill>
              <a:srgbClr val="3E4D5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C38"/>
          </a:solidFill>
          <a:ln w="12700">
            <a:solidFill>
              <a:srgbClr val="A85C3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A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Biochar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D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Sesión 1.2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657600" cy="36576"/>
          </a:xfrm>
          <a:prstGeom prst="rect">
            <a:avLst/>
          </a:prstGeom>
          <a:solidFill>
            <a:srgbClr val="50827C"/>
          </a:solidFill>
          <a:ln w="12700">
            <a:solidFill>
              <a:srgbClr val="5082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batch tiene 15 días.</a:t>
            </a:r>
            <a:endParaRPr lang="en-US" sz="2600" dirty="0"/>
          </a:p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dato de hoy es el ingreso del productor de mañana.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Biodiversal SAS BIC  ×  Cirkular Agro  ·  Proyecto Coffee Biochar  · 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4864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D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</Words>
  <Application>Microsoft Macintosh PowerPoint</Application>
  <PresentationFormat>Presentación en pantalla (16:9)</PresentationFormat>
  <Paragraphs>316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1.2 — Disciplina Profesional y Seguimiento Estructurado</dc:title>
  <dc:subject>PptxGenJS Presentation</dc:subject>
  <dc:creator>PptxGenJS</dc:creator>
  <cp:lastModifiedBy>Especialista de Negocios Verdes</cp:lastModifiedBy>
  <cp:revision>1</cp:revision>
  <dcterms:created xsi:type="dcterms:W3CDTF">2026-03-05T03:01:07Z</dcterms:created>
  <dcterms:modified xsi:type="dcterms:W3CDTF">2026-03-05T03:04:14Z</dcterms:modified>
</cp:coreProperties>
</file>