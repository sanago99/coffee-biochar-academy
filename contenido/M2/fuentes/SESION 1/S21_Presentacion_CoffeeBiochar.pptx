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916C"/>
                </a:solidFill>
              </a:rPr>
              <a:t>MÓDULO 2 — Fundamentos del Proyecto y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Cambio Climático
y el Rol del Suelo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0"/>
                </a:solidFill>
              </a:rPr>
              <a:t>Semana 3  ·  2 horas  ·  Virtual sincrónica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 × Cirkular Agro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OBJETIVO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Que el extensionista pueda explicar con sus propias palabras: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Por qué el CO₂ importa y qué dice el IPCC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Cómo el suelo y el cafetal pueden ser sumidero o fuente de emisiones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Qué conexión tiene eso con su trabajo concreto en campo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Estructura de la sesión: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01  El problema del CO₂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02  El ciclo del carbono en el cafetal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03  De problema a solución: agricultura regenerativa y MVC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01 · EL PROBLEMA DEL CO₂ — LAS CIFRAS QUE IMPORTAN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424 ppm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CO₂ atmosférico (2024)
Máximo en 3 millones de años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+1.2 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5146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Calentamiento global
vs. era preindustrial (IPCC AR6)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13716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~33 %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5146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De las emisiones globales
provienen de sistemas alimentarios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El efecto invernadero no es el problema — es el mecanismo que hace habitable la Tierra. El problema: demasiado CO₂.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02 · SUMIDERO vs. FUENTE DE CARBONO EN EL CAFETAL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916C"/>
                </a:solidFill>
              </a:rPr>
              <a:t>SUMIDERO ✓  (con biochar)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La planta fija CO₂ del aire mediante fotosíntesis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La biomasa (zoca) acumula carbono orgánico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Pirólisis Kon-Tiki → biochar estable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Biochar al suelo → carbono inmovilizado 100–1.000 años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Resultado: carbono que NO vuelve a la atmósfera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97280"/>
            <a:ext cx="18288" cy="53035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</a:rPr>
              <a:t>FUENTE ✗  (quema tradicional)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La planta fija CO₂ del aire mediante fotosíntesis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La biomasa (zoca) acumula carbono orgánico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Quema tradicional a cielo abierto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CO₂ + CH₄ + N₂O liberados en horas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Resultado: carbono que REGRESA a la atmósfera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02 · EL SUELO COMO SUMIDERO ACTIVO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6289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1.500 Gt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en el suelo global
(0–100 cm)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8980" y="1371600"/>
            <a:ext cx="26289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800 Gt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8980" y="25146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en la atmósfera
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371600"/>
            <a:ext cx="26289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560 Gt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5146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en toda la
vegetación terrestre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2540" y="1371600"/>
            <a:ext cx="26289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≈ 2.5 t C/ha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2540" y="25146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pérdida promedio en
suelos cafeteros degradados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El suelo contiene más carbono que la atmósfera y toda la vegetación terrestre juntas. Es el mayor reservorio terrestre que podemos manejar.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02 · QUÉ HACE EL BIOCHAR AL SUELO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Inmoviliza carbono por siglos (fracción PAC ≥ 75 %)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Mejora la retención de humedad en microporos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Aumenta CIC — los nutrientes se lixivian menos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Activa la biología del suelo (HMA, bacterias benéficas)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Reduce necesidad de fertilizantes a largo plazo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40916C"/>
                </a:solidFill>
              </a:rPr>
              <a:t>  → Genera crédito de carbono verificable y vendible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Cada uno de estos beneficios lo estudiarás en detalle en los módulos 4 y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03 · DE PROBLEMA A SOLUCIÓN — AGRICULTURA REGENERATIVA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No es solo 'no degradar' — es restaurar activamente la capacidad productiva del sistema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Prácticas del proyecto Coffee Biochar: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Biochar al suelo (secuestro de carbono)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No quema de residuos a campo abierto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Cobertura vegetal y reducción de labranza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Manejo biológico del suelo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Resultado: el cafetal pasa de ser fuente de emisiones a ser sumidero verificado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03 · EL MERCADO VOLUNTARIO DE CARBONO (MVC)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1. Empresa emite CO₂  →  tiene metas de reducción (Net Zero)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2. No puede eliminar todo  →  compra créditos para compensar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3. Crédito = 1 tCO₂e removida verificada y certificada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4. El productor genera el crédito al aplicar biochar al suelo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5. Biodiversal lo vende en el MVC  →  el ingreso llega al productor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¿Por qué Colombia y el café?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Alta disponibilidad de biomasa de zoca en clústeres de 110 ha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Suelos degradados con alto potencial de secuestro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Alianza Biodiversal × Cirkular Agro con acceso al territorio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03 · LOS NÚMEROS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6289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110 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mínimo por clúster
biomasa de zoca disponible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8980" y="1371600"/>
            <a:ext cx="26289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688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8980" y="25146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biochar por clúster/año
contenido C &gt; 82 %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371600"/>
            <a:ext cx="26289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2.1 tCO₂e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5146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removidas por tonelada
de biochar en suelo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2540" y="1371600"/>
            <a:ext cx="26289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1.362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2540" y="25146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créditos por clúster
bajo Global Artisan C-Sink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Tu trabajo como extensionista es el eslabón que hace posible que estos números se conviertan en ingresos reales para los productores.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DINÁMICA DE CIERRE — MAPA MENTAL COLECTIVO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1. Abrir la pizarra virtual (Jamboard / Miro) — enlace compartido por chat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2. Cada uno escribe: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1 causa del calentamiento global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1 rol del suelo en la solución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1 acción concreta del extensionista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3. En 8 minutos: conectamos los conceptos y construimos el mapa colectivo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4. Criterio de éxito: cada extensionista puede explicar el ciclo con sus propias palabras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Pregunta de cierre: ¿cómo le explicarías a Don Hernando por qué el biochar que produce vale dinero en otro país?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PARA LA PRÓXIMA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Lecturas antes de la Sesión 2.2: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Guía de Lectura S2.1 — Cambio climático y el rol del suelo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PDD Coffee Biochar — Secciones 1 y 2 (proyecto y metodología)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Próxima sesión: S2.2 — El modelo Coffee Biochar de inicio a fin  ·  Semana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